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6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a95d25c602437a" /><Relationship Type="http://schemas.openxmlformats.org/officeDocument/2006/relationships/extended-properties" Target="/docProps/app.xml" Id="R3a5ab2217ba446ba" /><Relationship Type="http://schemas.openxmlformats.org/officeDocument/2006/relationships/officeDocument" Target="/ppt/presentation.xml" Id="R9950e171142642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c8ec596b274167"/>
  </p:sldMasterIdLst>
  <p:notesMasterIdLst>
    <p:notesMasterId xmlns:r="http://schemas.openxmlformats.org/officeDocument/2006/relationships" r:id="R9aa74172d6834b5e"/>
  </p:notesMasterIdLst>
  <p:sldIdLst>
    <p:sldId xmlns:r="http://schemas.openxmlformats.org/officeDocument/2006/relationships" id="256" r:id="R5e89b1199abc4c6d"/>
    <p:sldId xmlns:r="http://schemas.openxmlformats.org/officeDocument/2006/relationships" id="257" r:id="R0a4eea42a2c847e6"/>
    <p:sldId xmlns:r="http://schemas.openxmlformats.org/officeDocument/2006/relationships" id="258" r:id="R70cef988e1214336"/>
    <p:sldId xmlns:r="http://schemas.openxmlformats.org/officeDocument/2006/relationships" id="259" r:id="Rd7441f136da340b3"/>
    <p:sldId xmlns:r="http://schemas.openxmlformats.org/officeDocument/2006/relationships" id="260" r:id="R496b45ddd5df4c61"/>
    <p:sldId xmlns:r="http://schemas.openxmlformats.org/officeDocument/2006/relationships" id="261" r:id="Rd7118d4df2b84769"/>
    <p:sldId xmlns:r="http://schemas.openxmlformats.org/officeDocument/2006/relationships" id="262" r:id="Raa9eddd7374047fa"/>
    <p:sldId xmlns:r="http://schemas.openxmlformats.org/officeDocument/2006/relationships" id="263" r:id="R0007d112f394464f"/>
    <p:sldId xmlns:r="http://schemas.openxmlformats.org/officeDocument/2006/relationships" id="264" r:id="R9f6ca28be64941d9"/>
    <p:sldId xmlns:r="http://schemas.openxmlformats.org/officeDocument/2006/relationships" id="265" r:id="Rb7a440f74d8e41af"/>
    <p:sldId xmlns:r="http://schemas.openxmlformats.org/officeDocument/2006/relationships" id="266" r:id="R9b11730176284862"/>
    <p:sldId xmlns:r="http://schemas.openxmlformats.org/officeDocument/2006/relationships" id="267" r:id="R19f7ad90842443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f30839d09f4af4" /><Relationship Type="http://schemas.openxmlformats.org/officeDocument/2006/relationships/slideMaster" Target="/ppt/slideMasters/slideMaster1.xml" Id="R5fc8ec596b274167" /><Relationship Type="http://schemas.openxmlformats.org/officeDocument/2006/relationships/notesMaster" Target="/ppt/notesMasters/notesMaster1.xml" Id="R9aa74172d6834b5e" /><Relationship Type="http://schemas.openxmlformats.org/officeDocument/2006/relationships/presProps" Target="/ppt/presProps.xml" Id="R4ead37cea84646f0" /><Relationship Type="http://schemas.openxmlformats.org/officeDocument/2006/relationships/tableStyles" Target="/ppt/tableStyles.xml" Id="Re6d4c0e876964e17" /><Relationship Type="http://schemas.openxmlformats.org/officeDocument/2006/relationships/slide" Target="/ppt/slides/slide1.xml" Id="R5e89b1199abc4c6d" /><Relationship Type="http://schemas.openxmlformats.org/officeDocument/2006/relationships/slide" Target="/ppt/slides/slide2.xml" Id="R0a4eea42a2c847e6" /><Relationship Type="http://schemas.openxmlformats.org/officeDocument/2006/relationships/slide" Target="/ppt/slides/slide3.xml" Id="R70cef988e1214336" /><Relationship Type="http://schemas.openxmlformats.org/officeDocument/2006/relationships/slide" Target="/ppt/slides/slide4.xml" Id="Rd7441f136da340b3" /><Relationship Type="http://schemas.openxmlformats.org/officeDocument/2006/relationships/slide" Target="/ppt/slides/slide5.xml" Id="R496b45ddd5df4c61" /><Relationship Type="http://schemas.openxmlformats.org/officeDocument/2006/relationships/slide" Target="/ppt/slides/slide6.xml" Id="Rd7118d4df2b84769" /><Relationship Type="http://schemas.openxmlformats.org/officeDocument/2006/relationships/slide" Target="/ppt/slides/slide7.xml" Id="Raa9eddd7374047fa" /><Relationship Type="http://schemas.openxmlformats.org/officeDocument/2006/relationships/slide" Target="/ppt/slides/slide8.xml" Id="R0007d112f394464f" /><Relationship Type="http://schemas.openxmlformats.org/officeDocument/2006/relationships/slide" Target="/ppt/slides/slide9.xml" Id="R9f6ca28be64941d9" /><Relationship Type="http://schemas.openxmlformats.org/officeDocument/2006/relationships/slide" Target="/ppt/slides/slide10.xml" Id="Rb7a440f74d8e41af" /><Relationship Type="http://schemas.openxmlformats.org/officeDocument/2006/relationships/slide" Target="/ppt/slides/slide11.xml" Id="R9b11730176284862" /><Relationship Type="http://schemas.openxmlformats.org/officeDocument/2006/relationships/slide" Target="/ppt/slides/slide12.xml" Id="R19f7ad90842443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7257c7262348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76ce671d73482c" /><Relationship Type="http://schemas.openxmlformats.org/officeDocument/2006/relationships/notesMaster" Target="/ppt/notesMasters/notesMaster1.xml" Id="R00dc260f9fa045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fc316e4010493f" /><Relationship Type="http://schemas.openxmlformats.org/officeDocument/2006/relationships/notesMaster" Target="/ppt/notesMasters/notesMaster1.xml" Id="R5efbaac3053d41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f95ca748ec49e7" /><Relationship Type="http://schemas.openxmlformats.org/officeDocument/2006/relationships/notesMaster" Target="/ppt/notesMasters/notesMaster1.xml" Id="R42fee61723e641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af26a803c74155" /><Relationship Type="http://schemas.openxmlformats.org/officeDocument/2006/relationships/notesMaster" Target="/ppt/notesMasters/notesMaster1.xml" Id="R8c17df24dc2643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961d08a9f74e37" /><Relationship Type="http://schemas.openxmlformats.org/officeDocument/2006/relationships/notesMaster" Target="/ppt/notesMasters/notesMaster1.xml" Id="R8858a44bf38447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c1bbf19e87487d" /><Relationship Type="http://schemas.openxmlformats.org/officeDocument/2006/relationships/notesMaster" Target="/ppt/notesMasters/notesMaster1.xml" Id="Rd690a1c0dda943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4637df48554261" /><Relationship Type="http://schemas.openxmlformats.org/officeDocument/2006/relationships/notesMaster" Target="/ppt/notesMasters/notesMaster1.xml" Id="R836279b41c4a4d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3c10f4ee9f41dc" /><Relationship Type="http://schemas.openxmlformats.org/officeDocument/2006/relationships/notesMaster" Target="/ppt/notesMasters/notesMaster1.xml" Id="Rb2e66244d5b045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f245c42bd54704" /><Relationship Type="http://schemas.openxmlformats.org/officeDocument/2006/relationships/notesMaster" Target="/ppt/notesMasters/notesMaster1.xml" Id="R1e4c9a85f9954a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a25ae14c9b4b6e" /><Relationship Type="http://schemas.openxmlformats.org/officeDocument/2006/relationships/notesMaster" Target="/ppt/notesMasters/notesMaster1.xml" Id="Re37c854449ad43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35a43e315b4e4e" /><Relationship Type="http://schemas.openxmlformats.org/officeDocument/2006/relationships/notesMaster" Target="/ppt/notesMasters/notesMaster1.xml" Id="Rc64a250f4a9f46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82f97ed9da4bb4" /><Relationship Type="http://schemas.openxmlformats.org/officeDocument/2006/relationships/notesMaster" Target="/ppt/notesMasters/notesMaster1.xml" Id="Rd971d50e075741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config/PROTOCOL.json; results/RESULT.json. Оформление: собственная иллюстрация, созданная с помощью ИИ. Источник зелёного цвета: https://developers.sber.ru/docs/files/sberid/sber-id-guide.pdf.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code/v4_ensemble.py; code/v4_run.py; config/PROTOCOL.json. Оформление: собственная иллюстрация, созданная с помощью ИИ. Источник зелёного цвета: https://developers.sber.ru/docs/files/sberid/sber-id-guide.pdf.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config/PROTOCOL.json; results/METRICS.csv; results/CONDITIONAL_BOOTSTRAP.json. Оформление: собственная иллюстрация, созданная с помощью ИИ. Источник зелёного цвета: https://developers.sber.ru/docs/files/sberid/sber-id-guide.pdf.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results/METRICS.csv; results/CONDITIONAL_BOOTSTRAP.json. Оформление: собственная иллюстрация, созданная с помощью ИИ. Источник зелёного цвета: https://developers.sber.ru/docs/files/sberid/sber-id-guide.pdf.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results/METRICS.csv. Оформление: собственная иллюстрация, созданная с помощью ИИ. Источник зелёного цвета: https://developers.sber.ru/docs/files/sberid/sber-id-guide.pdf.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historical_v2/METRICS.csv. Равная смесь - EqualBlend в исходном определении: среднее компонентов, затем обрезка нулём. Оформление: собственная иллюстрация, созданная с помощью ИИ. Источник зелёного цвета: https://developers.sber.ru/docs/files/sberid/sber-id-guide.pdf.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historical_v2/SYNTHETIC_SUMMARY.csv; historical_v2/DETECTOR_SELECTION.json; historical_v2/DETECTOR_ALARM_RATES.csv. Оформление: собственная иллюстрация, созданная с помощью ИИ. Источник зелёного цвета: https://developers.sber.ru/docs/files/sberid/sber-id-guide.pdf.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historical_v2/METRICS.csv; historical_v2/FOUNDATION_INTERVALS.csv; historical_v2/config/PROTOCOL.json; https://huggingface.co/amazon/chronos-2. Оформление: собственная иллюстрация, созданная с помощью ИИ. Источник зелёного цвета: https://developers.sber.ru/docs/files/sberid/sber-id-guide.pdf.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historical_v2/NEWS_V1_ABLATION.json; historical_v2/config/regional_events.json; sources/SOURCES.md. Оформление: собственная иллюстрация, созданная с помощью ИИ. Источник зелёного цвета: https://developers.sber.ru/docs/files/sberid/sber-id-guide.pdf.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examples/CASE_POINTS.csv; examples/MUNICIPAL_NAMES.json; examples/SOURCE_BINDING.json. Данные и производные графики: СберИндекс, CC BY-SA 4.0. Оформление: собственная иллюстрация, созданная с помощью ИИ. Источник зелёного цвета: https://developers.sber.ru/docs/files/sberid/sber-id-guide.pdf.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examples/CASE_POINTS.csv; examples/MUNICIPAL_NAMES.json; results/DETECTOR_CALIBRATION.json. Данные и производные графики: СберИндекс, CC BY-SA 4.0. Оформление: собственная иллюстрация, созданная с помощью ИИ. Источник зелёного цвета: https://developers.sber.ru/docs/files/sberid/sber-id-guide.pdf.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additional_experiments/v5/RESULT.json; additional_experiments/v6/RESULT.json; results/METRICS.csv; README.md. Оформление: собственная иллюстрация, созданная с помощью ИИ. Источник зелёного цвета: https://developers.sber.ru/docs/files/sberid/sber-id-guide.pdf.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119dbe5aa4e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e33c86298f40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2ed870766f4a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c3b2c8f1cc4c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03fa4424645b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97e89b8a9a4b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430A6E-CBF7-40DB-9398-3672A5D297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33415B-47CB-452D-A271-8314DE4E48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276E3FA-382E-49B6-B104-138B2F08B9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E808FD-B745-45D9-B603-5FA364AACA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FCCD0AD-EB13-40DF-A923-C88ED3FE6A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6F0F20-D0EE-4C55-B3BB-25DEEDB214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2BEE5F-074C-47FD-A63B-E12537AA4C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1C9C38-8FC5-4353-B314-FE9F22546E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B0EB1A-C084-47DB-83B1-2510C8510B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FD1B0D-2FB4-4A79-8CD0-78218A403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a6f07c0ad24697" /><Relationship Type="http://schemas.openxmlformats.org/officeDocument/2006/relationships/slideLayout" Target="/ppt/slideLayouts/slideLayout1.xml" Id="R89b25f4de3a34067" /><Relationship Type="http://schemas.openxmlformats.org/officeDocument/2006/relationships/slideLayout" Target="/ppt/slideLayouts/slideLayout2.xml" Id="R62d0aac4b4914cea" /><Relationship Type="http://schemas.openxmlformats.org/officeDocument/2006/relationships/slideLayout" Target="/ppt/slideLayouts/slideLayout3.xml" Id="R1fbfb2b21c2e4524" /><Relationship Type="http://schemas.openxmlformats.org/officeDocument/2006/relationships/slideLayout" Target="/ppt/slideLayouts/slideLayout4.xml" Id="R3a06baf26d244044" /><Relationship Type="http://schemas.openxmlformats.org/officeDocument/2006/relationships/slideLayout" Target="/ppt/slideLayouts/slideLayout5.xml" Id="R37630bbadf314361" /><Relationship Type="http://schemas.openxmlformats.org/officeDocument/2006/relationships/slideLayout" Target="/ppt/slideLayouts/slideLayout6.xml" Id="R0081ffa4147948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b25f4de3a34067"/>
    <p:sldLayoutId xmlns:r="http://schemas.openxmlformats.org/officeDocument/2006/relationships" id="2147483650" r:id="R62d0aac4b4914cea"/>
    <p:sldLayoutId xmlns:r="http://schemas.openxmlformats.org/officeDocument/2006/relationships" id="2147483651" r:id="R1fbfb2b21c2e4524"/>
    <p:sldLayoutId xmlns:r="http://schemas.openxmlformats.org/officeDocument/2006/relationships" id="2147483652" r:id="R3a06baf26d244044"/>
    <p:sldLayoutId xmlns:r="http://schemas.openxmlformats.org/officeDocument/2006/relationships" id="2147483653" r:id="R37630bbadf314361"/>
    <p:sldLayoutId xmlns:r="http://schemas.openxmlformats.org/officeDocument/2006/relationships" id="2147483654" r:id="R0081ffa4147948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7d2c245f9f4e41" /><Relationship Type="http://schemas.openxmlformats.org/officeDocument/2006/relationships/image" Target="/ppt/media/image.png" Id="R035de0f4d34c4ad0" /><Relationship Type="http://schemas.openxmlformats.org/officeDocument/2006/relationships/notesSlide" Target="/ppt/notesSlides/notesSlide1.xml" Id="R5626fbeff47a42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b857133d584452" /><Relationship Type="http://schemas.openxmlformats.org/officeDocument/2006/relationships/image" Target="/ppt/media/image2.png" Id="R7257dff52f86495c" /><Relationship Type="http://schemas.openxmlformats.org/officeDocument/2006/relationships/notesSlide" Target="/ppt/notesSlides/notesSlide2.xml" Id="R2fc6ae50f9364c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b51f26197f40b5" /><Relationship Type="http://schemas.openxmlformats.org/officeDocument/2006/relationships/image" Target="/ppt/media/image3.png" Id="R2e3b2a5cac8b4d16" /><Relationship Type="http://schemas.openxmlformats.org/officeDocument/2006/relationships/notesSlide" Target="/ppt/notesSlides/notesSlide3.xml" Id="R7f680c2f378d44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1a805a0f814760" /><Relationship Type="http://schemas.openxmlformats.org/officeDocument/2006/relationships/image" Target="/ppt/media/image4.png" Id="R7716871d6efc45e1" /><Relationship Type="http://schemas.openxmlformats.org/officeDocument/2006/relationships/chart" Target="/ppt/slides/charts/chart1.xml" Id="R53b0ada1c76c4301" /><Relationship Type="http://schemas.openxmlformats.org/officeDocument/2006/relationships/notesSlide" Target="/ppt/notesSlides/notesSlide4.xml" Id="R067a984856ef45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672e3174e1473f" /><Relationship Type="http://schemas.openxmlformats.org/officeDocument/2006/relationships/image" Target="/ppt/media/image5.png" Id="R9bfb514c11724992" /><Relationship Type="http://schemas.openxmlformats.org/officeDocument/2006/relationships/notesSlide" Target="/ppt/notesSlides/notesSlide5.xml" Id="R80e27c0963c54e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415c95122044bb" /><Relationship Type="http://schemas.openxmlformats.org/officeDocument/2006/relationships/image" Target="/ppt/media/image6.png" Id="R88ed02ba35ef436a" /><Relationship Type="http://schemas.openxmlformats.org/officeDocument/2006/relationships/notesSlide" Target="/ppt/notesSlides/notesSlide6.xml" Id="R2df00d1bc3c047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51233f94146e6" /><Relationship Type="http://schemas.openxmlformats.org/officeDocument/2006/relationships/image" Target="/ppt/media/image7.png" Id="Rcc1a8da739fa44ca" /><Relationship Type="http://schemas.openxmlformats.org/officeDocument/2006/relationships/notesSlide" Target="/ppt/notesSlides/notesSlide7.xml" Id="R7c929d4f1a0444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487bdf26c241b8" /><Relationship Type="http://schemas.openxmlformats.org/officeDocument/2006/relationships/image" Target="/ppt/media/image8.png" Id="Rc20b1ec6e0b8485b" /><Relationship Type="http://schemas.openxmlformats.org/officeDocument/2006/relationships/chart" Target="/ppt/slides/charts/chart2.xml" Id="R0d87342c310f406e" /><Relationship Type="http://schemas.openxmlformats.org/officeDocument/2006/relationships/notesSlide" Target="/ppt/notesSlides/notesSlide8.xml" Id="R27da070e908049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34554875f540c4" /><Relationship Type="http://schemas.openxmlformats.org/officeDocument/2006/relationships/image" Target="/ppt/media/image9.png" Id="R6d65de6528b34272" /><Relationship Type="http://schemas.openxmlformats.org/officeDocument/2006/relationships/chart" Target="/ppt/slides/charts/chart3.xml" Id="R22e67b38f0be4e34" /><Relationship Type="http://schemas.openxmlformats.org/officeDocument/2006/relationships/notesSlide" Target="/ppt/notesSlides/notesSlide9.xml" Id="R07662cb7d8a04d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9f101e322e4be3" /><Relationship Type="http://schemas.openxmlformats.org/officeDocument/2006/relationships/image" Target="/ppt/media/image10.png" Id="R80dea7471a13424b" /><Relationship Type="http://schemas.openxmlformats.org/officeDocument/2006/relationships/chart" Target="/ppt/slides/charts/chart4.xml" Id="R6c1710df2f014e47" /><Relationship Type="http://schemas.openxmlformats.org/officeDocument/2006/relationships/chart" Target="/ppt/slides/charts/chart5.xml" Id="Rffbcd9aeac0548c9" /><Relationship Type="http://schemas.openxmlformats.org/officeDocument/2006/relationships/notesSlide" Target="/ppt/notesSlides/notesSlide10.xml" Id="R79fb509a944346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6ebb5008d443d8" /><Relationship Type="http://schemas.openxmlformats.org/officeDocument/2006/relationships/image" Target="/ppt/media/image11.png" Id="R7a704c794dcd46ce" /><Relationship Type="http://schemas.openxmlformats.org/officeDocument/2006/relationships/chart" Target="/ppt/slides/charts/chart6.xml" Id="Rfeebbeeb3a6e454e" /><Relationship Type="http://schemas.openxmlformats.org/officeDocument/2006/relationships/notesSlide" Target="/ppt/notesSlides/notesSlide11.xml" Id="Rde884031d94542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7e647450234730" /><Relationship Type="http://schemas.openxmlformats.org/officeDocument/2006/relationships/image" Target="/ppt/media/image12.png" Id="R3f6087341a5a4aca" /><Relationship Type="http://schemas.openxmlformats.org/officeDocument/2006/relationships/notesSlide" Target="/ppt/notesSlides/notesSlide12.xml" Id="R86442ea9dcb2421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21A03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1A03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C972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8D989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537D84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8D9893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8D9893"/>
              </a:solidFill>
            </c:spPr>
          </c:dPt>
          <c:cat>
            <c:strRef>
              <c:f>'Chart Data'!$A$2:$A$7</c:f>
              <c:strCache>
                <c:ptCount val="6"/>
                <c:pt idx="0">
                  <c:v>Адаптивный ансамбль</c:v>
                </c:pt>
                <c:pt idx="1">
                  <c:v>Равная смесь</c:v>
                </c:pt>
                <c:pt idx="2">
                  <c:v>Общий календарь</c:v>
                </c:pt>
                <c:pt idx="3">
                  <c:v>Годовой Prophet</c:v>
                </c:pt>
                <c:pt idx="4">
                  <c:v>Prophet без сезонности</c:v>
                </c:pt>
                <c:pt idx="5">
                  <c:v>Последнее значение</c:v>
                </c:pt>
              </c:strCache>
            </c:str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573.346</c:v>
                </c:pt>
                <c:pt idx="1">
                  <c:v>610.07</c:v>
                </c:pt>
                <c:pt idx="2">
                  <c:v>620.633</c:v>
                </c:pt>
                <c:pt idx="3">
                  <c:v>645.057</c:v>
                </c:pt>
                <c:pt idx="4">
                  <c:v>716.129</c:v>
                </c:pt>
                <c:pt idx="5">
                  <c:v>886.819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0252F"/>
                  </a:solidFill>
                  <a:latin typeface="Segoe UI"/>
                  <a:ea typeface="Segoe UI"/>
                  <a:cs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0E8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  <c:max val="100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E0E8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Prophet</c:v>
          </c:tx>
          <c:spPr>
            <a:ln xmlns:a="http://schemas.openxmlformats.org/drawingml/2006/main" w="28575">
              <a:solidFill>
                <a:srgbClr val="8D9893"/>
              </a:solidFill>
            </a:ln>
          </c:spPr>
          <c:marker>
            <c:symbol val="circle"/>
            <c:size val="6"/>
          </c:marker>
          <c:cat>
            <c:strRef>
              <c:f>'Chart Data'!$A$2:$A$4</c:f>
              <c:strCache>
                <c:ptCount val="3"/>
                <c:pt idx="0">
                  <c:v>1 месяц</c:v>
                </c:pt>
                <c:pt idx="1">
                  <c:v>3 месяца</c:v>
                </c:pt>
                <c:pt idx="2">
                  <c:v>6 месяцев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0.150177</c:v>
                </c:pt>
                <c:pt idx="1">
                  <c:v>0.166304</c:v>
                </c:pt>
                <c:pt idx="2">
                  <c:v>0.229867</c:v>
                </c:pt>
              </c:numCache>
            </c:numRef>
          </c:val>
        </c:ser>
        <c:ser>
          <c:idx val="1"/>
          <c:order val="1"/>
          <c:tx>
            <c:v>Chronos-2: ряд</c:v>
          </c:tx>
          <c:spPr>
            <a:ln xmlns:a="http://schemas.openxmlformats.org/drawingml/2006/main" w="28575">
              <a:solidFill>
                <a:srgbClr val="21A038"/>
              </a:solidFill>
            </a:ln>
          </c:spPr>
          <c:marker>
            <c:symbol val="circle"/>
            <c:size val="6"/>
          </c:marker>
          <c:cat>
            <c:strRef>
              <c:f>'Chart Data'!$C$2:$C$4</c:f>
              <c:strCache>
                <c:ptCount val="3"/>
                <c:pt idx="0">
                  <c:v>1 месяц</c:v>
                </c:pt>
                <c:pt idx="1">
                  <c:v>3 месяца</c:v>
                </c:pt>
                <c:pt idx="2">
                  <c:v>6 месяцев</c:v>
                </c:pt>
              </c:strCache>
            </c:strRef>
          </c:cat>
          <c:val>
            <c:numRef>
              <c:f>'Chart Data'!$D$2:$D$4</c:f>
              <c:numCache>
                <c:formatCode>0.000</c:formatCode>
                <c:ptCount val="3"/>
                <c:pt idx="0">
                  <c:v>0.129004</c:v>
                </c:pt>
                <c:pt idx="1">
                  <c:v>0.20026</c:v>
                </c:pt>
                <c:pt idx="2">
                  <c:v>0.406432</c:v>
                </c:pt>
              </c:numCache>
            </c:numRef>
          </c:val>
        </c:ser>
        <c:ser>
          <c:idx val="2"/>
          <c:order val="2"/>
          <c:tx>
            <c:v>Chronos-2: календарь и группы</c:v>
          </c:tx>
          <c:spPr>
            <a:ln xmlns:a="http://schemas.openxmlformats.org/drawingml/2006/main" w="28575">
              <a:solidFill>
                <a:srgbClr val="AC972D"/>
              </a:solidFill>
            </a:ln>
          </c:spPr>
          <c:marker>
            <c:symbol val="circle"/>
            <c:size val="6"/>
          </c:marker>
          <c:cat>
            <c:strRef>
              <c:f>'Chart Data'!$E$2:$E$4</c:f>
              <c:strCache>
                <c:ptCount val="3"/>
                <c:pt idx="0">
                  <c:v>1 месяц</c:v>
                </c:pt>
                <c:pt idx="1">
                  <c:v>3 месяца</c:v>
                </c:pt>
                <c:pt idx="2">
                  <c:v>6 месяцев</c:v>
                </c:pt>
              </c:strCache>
            </c:strRef>
          </c:cat>
          <c:val>
            <c:numRef>
              <c:f>'Chart Data'!$F$2:$F$4</c:f>
              <c:numCache>
                <c:formatCode>0.000</c:formatCode>
                <c:ptCount val="3"/>
                <c:pt idx="0">
                  <c:v>0.120971</c:v>
                </c:pt>
                <c:pt idx="1">
                  <c:v>0.176627</c:v>
                </c:pt>
                <c:pt idx="2">
                  <c:v>0.409511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egoe UI"/>
                  <a:ea typeface="Segoe UI"/>
                  <a:cs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0E8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8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egoe UI"/>
                    <a:ea typeface="Segoe UI"/>
                    <a:cs typeface="Segoe UI"/>
                  </a:rPr>
                  <a:t>Нормированная MAE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egoe UI"/>
                  <a:ea typeface="Segoe UI"/>
                  <a:cs typeface="Segoe U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E0E8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65716C"/>
              </a:solidFill>
              <a:latin typeface="Segoe UI"/>
              <a:ea typeface="Segoe UI"/>
              <a:cs typeface="Segoe U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21A03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1A03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D9893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Без решений ЦБ</c:v>
                </c:pt>
                <c:pt idx="1">
                  <c:v>С решениями ЦБ</c:v>
                </c:pt>
              </c:strCache>
            </c:strRef>
          </c:cat>
          <c:val>
            <c:numRef>
              <c:f>'Chart Data'!$B$2:$B$3</c:f>
              <c:numCache>
                <c:formatCode>0.000000</c:formatCode>
                <c:ptCount val="2"/>
                <c:pt idx="0">
                  <c:v>0.115712</c:v>
                </c:pt>
                <c:pt idx="1">
                  <c:v>0.307236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0252F"/>
                  </a:solidFill>
                  <a:latin typeface="Segoe UI"/>
                  <a:ea typeface="Segoe UI"/>
                  <a:cs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0E8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0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E0E8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Наблюдение</c:v>
          </c:tx>
          <c:spPr>
            <a:ln xmlns:a="http://schemas.openxmlformats.org/drawingml/2006/main" w="28575">
              <a:solidFill>
                <a:srgbClr val="20252F"/>
              </a:solidFill>
            </a:ln>
          </c:spPr>
          <c:marker>
            <c:symbol val="none"/>
          </c:marker>
          <c:cat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17717</c:v>
                </c:pt>
                <c:pt idx="1">
                  <c:v>20870</c:v>
                </c:pt>
                <c:pt idx="2">
                  <c:v>23261</c:v>
                </c:pt>
                <c:pt idx="3">
                  <c:v>22183</c:v>
                </c:pt>
                <c:pt idx="4">
                  <c:v>21921</c:v>
                </c:pt>
                <c:pt idx="5">
                  <c:v>22384</c:v>
                </c:pt>
                <c:pt idx="6">
                  <c:v>22516</c:v>
                </c:pt>
                <c:pt idx="7">
                  <c:v>22352</c:v>
                </c:pt>
                <c:pt idx="8">
                  <c:v>20444</c:v>
                </c:pt>
                <c:pt idx="9">
                  <c:v>21534</c:v>
                </c:pt>
                <c:pt idx="10">
                  <c:v>21483</c:v>
                </c:pt>
                <c:pt idx="11">
                  <c:v>27144</c:v>
                </c:pt>
              </c:numCache>
            </c:numRef>
          </c:val>
          <c:smooth val="0"/>
        </c:ser>
        <c:ser>
          <c:idx val="1"/>
          <c:order val="1"/>
          <c:tx>
            <c:v>Prophet</c:v>
          </c:tx>
          <c:spPr>
            <a:ln xmlns:a="http://schemas.openxmlformats.org/drawingml/2006/main" w="19050">
              <a:solidFill>
                <a:srgbClr val="537D84"/>
              </a:solidFill>
            </a:ln>
          </c:spPr>
          <c:marker>
            <c:symbol val="none"/>
          </c:marker>
          <c:cat>
            <c:numRef>
              <c:f>'Chart Data'!$C$2:$C$13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21541.204483</c:v>
                </c:pt>
                <c:pt idx="1">
                  <c:v>20580.824225</c:v>
                </c:pt>
                <c:pt idx="2">
                  <c:v>20794.371165</c:v>
                </c:pt>
                <c:pt idx="3">
                  <c:v>21589.784106</c:v>
                </c:pt>
                <c:pt idx="4">
                  <c:v>21933.737702</c:v>
                </c:pt>
                <c:pt idx="5">
                  <c:v>22134.864385</c:v>
                </c:pt>
                <c:pt idx="6">
                  <c:v>22400.903799</c:v>
                </c:pt>
                <c:pt idx="7">
                  <c:v>22636.910823</c:v>
                </c:pt>
                <c:pt idx="8">
                  <c:v>22790.273258</c:v>
                </c:pt>
                <c:pt idx="9">
                  <c:v>22557.141127</c:v>
                </c:pt>
                <c:pt idx="10">
                  <c:v>22544.894912</c:v>
                </c:pt>
                <c:pt idx="11">
                  <c:v>22526.044902</c:v>
                </c:pt>
              </c:numCache>
            </c:numRef>
          </c:val>
          <c:smooth val="0"/>
        </c:ser>
        <c:ser>
          <c:idx val="2"/>
          <c:order val="2"/>
          <c:tx>
            <c:v>Равная смесь</c:v>
          </c:tx>
          <c:spPr>
            <a:ln xmlns:a="http://schemas.openxmlformats.org/drawingml/2006/main" w="19050">
              <a:solidFill>
                <a:srgbClr val="AC972D"/>
              </a:solidFill>
            </a:ln>
          </c:spPr>
          <c:marker>
            <c:symbol val="none"/>
          </c:marker>
          <c:cat>
            <c:numRef>
              <c:f>'Chart Data'!$E$2:$E$13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Data'!$F$2:$F$13</c:f>
              <c:numCache>
                <c:formatCode>0</c:formatCode>
                <c:ptCount val="12"/>
                <c:pt idx="0">
                  <c:v>22173.687723</c:v>
                </c:pt>
                <c:pt idx="1">
                  <c:v>18889.671663</c:v>
                </c:pt>
                <c:pt idx="2">
                  <c:v>21318.707958</c:v>
                </c:pt>
                <c:pt idx="3">
                  <c:v>22059.294031</c:v>
                </c:pt>
                <c:pt idx="4">
                  <c:v>22314.4727</c:v>
                </c:pt>
                <c:pt idx="5">
                  <c:v>22028.144933</c:v>
                </c:pt>
                <c:pt idx="6">
                  <c:v>22750.008117</c:v>
                </c:pt>
                <c:pt idx="7">
                  <c:v>22614.99354</c:v>
                </c:pt>
                <c:pt idx="8">
                  <c:v>21970.081111</c:v>
                </c:pt>
                <c:pt idx="9">
                  <c:v>21237.257413</c:v>
                </c:pt>
                <c:pt idx="10">
                  <c:v>21939.547645</c:v>
                </c:pt>
                <c:pt idx="11">
                  <c:v>22957.548579</c:v>
                </c:pt>
              </c:numCache>
            </c:numRef>
          </c:val>
          <c:smooth val="0"/>
        </c:ser>
        <c:ser>
          <c:idx val="3"/>
          <c:order val="3"/>
          <c:tx>
            <c:v>Ансамбль</c:v>
          </c:tx>
          <c:spPr>
            <a:ln xmlns:a="http://schemas.openxmlformats.org/drawingml/2006/main" w="19050">
              <a:solidFill>
                <a:srgbClr val="21A038"/>
              </a:solidFill>
            </a:ln>
          </c:spPr>
          <c:marker>
            <c:symbol val="none"/>
          </c:marker>
          <c:cat>
            <c:numRef>
              <c:f>'Chart Data'!$G$2:$G$13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Data'!$H$2:$H$13</c:f>
              <c:numCache>
                <c:formatCode>0</c:formatCode>
                <c:ptCount val="12"/>
                <c:pt idx="0">
                  <c:v>22173.687723</c:v>
                </c:pt>
                <c:pt idx="1">
                  <c:v>18371.190763</c:v>
                </c:pt>
                <c:pt idx="2">
                  <c:v>21776.827723</c:v>
                </c:pt>
                <c:pt idx="3">
                  <c:v>21414.660026</c:v>
                </c:pt>
                <c:pt idx="4">
                  <c:v>22433.724337</c:v>
                </c:pt>
                <c:pt idx="5">
                  <c:v>22071.9185</c:v>
                </c:pt>
                <c:pt idx="6">
                  <c:v>23046.369298</c:v>
                </c:pt>
                <c:pt idx="7">
                  <c:v>22670.365676</c:v>
                </c:pt>
                <c:pt idx="8">
                  <c:v>21549.196644</c:v>
                </c:pt>
                <c:pt idx="9">
                  <c:v>21326.13445</c:v>
                </c:pt>
                <c:pt idx="10">
                  <c:v>22008.743346</c:v>
                </c:pt>
                <c:pt idx="11">
                  <c:v>24084.415524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egoe UI"/>
                  <a:ea typeface="Segoe UI"/>
                  <a:cs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egoe UI"/>
                    <a:ea typeface="Segoe UI"/>
                    <a:cs typeface="Segoe UI"/>
                  </a:rPr>
                  <a:t>Месяц 2024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egoe UI"/>
                  <a:ea typeface="Segoe UI"/>
                  <a:cs typeface="Segoe U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0E8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8E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E0E8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65716C"/>
              </a:solidFill>
              <a:latin typeface="Segoe UI"/>
              <a:ea typeface="Segoe UI"/>
              <a:cs typeface="Segoe U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Наблюдение</c:v>
          </c:tx>
          <c:spPr>
            <a:ln xmlns:a="http://schemas.openxmlformats.org/drawingml/2006/main" w="28575">
              <a:solidFill>
                <a:srgbClr val="20252F"/>
              </a:solidFill>
            </a:ln>
          </c:spPr>
          <c:marker>
            <c:symbol val="none"/>
          </c:marker>
          <c:cat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26842</c:v>
                </c:pt>
                <c:pt idx="1">
                  <c:v>28837</c:v>
                </c:pt>
                <c:pt idx="2">
                  <c:v>32849</c:v>
                </c:pt>
                <c:pt idx="3">
                  <c:v>32411</c:v>
                </c:pt>
                <c:pt idx="4">
                  <c:v>31695</c:v>
                </c:pt>
                <c:pt idx="5">
                  <c:v>32608</c:v>
                </c:pt>
                <c:pt idx="6">
                  <c:v>32986</c:v>
                </c:pt>
                <c:pt idx="7">
                  <c:v>34292</c:v>
                </c:pt>
                <c:pt idx="8">
                  <c:v>31781</c:v>
                </c:pt>
                <c:pt idx="9">
                  <c:v>32954</c:v>
                </c:pt>
                <c:pt idx="10">
                  <c:v>33325</c:v>
                </c:pt>
                <c:pt idx="11">
                  <c:v>39242</c:v>
                </c:pt>
              </c:numCache>
            </c:numRef>
          </c:val>
          <c:smooth val="0"/>
        </c:ser>
        <c:ser>
          <c:idx val="1"/>
          <c:order val="1"/>
          <c:tx>
            <c:v>Prophet</c:v>
          </c:tx>
          <c:spPr>
            <a:ln xmlns:a="http://schemas.openxmlformats.org/drawingml/2006/main" w="19050">
              <a:solidFill>
                <a:srgbClr val="537D84"/>
              </a:solidFill>
            </a:ln>
          </c:spPr>
          <c:marker>
            <c:symbol val="none"/>
          </c:marker>
          <c:cat>
            <c:numRef>
              <c:f>'Chart Data'!$C$2:$C$13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31839.685381</c:v>
                </c:pt>
                <c:pt idx="1">
                  <c:v>30920.207108</c:v>
                </c:pt>
                <c:pt idx="2">
                  <c:v>30820.50073</c:v>
                </c:pt>
                <c:pt idx="3">
                  <c:v>31780.259957</c:v>
                </c:pt>
                <c:pt idx="4">
                  <c:v>32419.835215</c:v>
                </c:pt>
                <c:pt idx="5">
                  <c:v>32732.442011</c:v>
                </c:pt>
                <c:pt idx="6">
                  <c:v>33181.001063</c:v>
                </c:pt>
                <c:pt idx="7">
                  <c:v>33627.697047</c:v>
                </c:pt>
                <c:pt idx="8">
                  <c:v>34223.714886</c:v>
                </c:pt>
                <c:pt idx="9">
                  <c:v>34245.257015</c:v>
                </c:pt>
                <c:pt idx="10">
                  <c:v>34449.633449</c:v>
                </c:pt>
                <c:pt idx="11">
                  <c:v>34695.3058</c:v>
                </c:pt>
              </c:numCache>
            </c:numRef>
          </c:val>
          <c:smooth val="0"/>
        </c:ser>
        <c:ser>
          <c:idx val="2"/>
          <c:order val="2"/>
          <c:tx>
            <c:v>Равная смесь</c:v>
          </c:tx>
          <c:spPr>
            <a:ln xmlns:a="http://schemas.openxmlformats.org/drawingml/2006/main" w="19050">
              <a:solidFill>
                <a:srgbClr val="AC972D"/>
              </a:solidFill>
            </a:ln>
          </c:spPr>
          <c:marker>
            <c:symbol val="none"/>
          </c:marker>
          <c:cat>
            <c:numRef>
              <c:f>'Chart Data'!$E$2:$E$13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Data'!$F$2:$F$13</c:f>
              <c:numCache>
                <c:formatCode>0</c:formatCode>
                <c:ptCount val="12"/>
                <c:pt idx="0">
                  <c:v>31617.310012</c:v>
                </c:pt>
                <c:pt idx="1">
                  <c:v>28516.258251</c:v>
                </c:pt>
                <c:pt idx="2">
                  <c:v>30063.742487</c:v>
                </c:pt>
                <c:pt idx="3">
                  <c:v>31560.997566</c:v>
                </c:pt>
                <c:pt idx="4">
                  <c:v>32714.292144</c:v>
                </c:pt>
                <c:pt idx="5">
                  <c:v>32110.845422</c:v>
                </c:pt>
                <c:pt idx="6">
                  <c:v>33317.197204</c:v>
                </c:pt>
                <c:pt idx="7">
                  <c:v>33381.346692</c:v>
                </c:pt>
                <c:pt idx="8">
                  <c:v>33564.043898</c:v>
                </c:pt>
                <c:pt idx="9">
                  <c:v>32862.326057</c:v>
                </c:pt>
                <c:pt idx="10">
                  <c:v>33691.339059</c:v>
                </c:pt>
                <c:pt idx="11">
                  <c:v>35665.123869</c:v>
                </c:pt>
              </c:numCache>
            </c:numRef>
          </c:val>
          <c:smooth val="0"/>
        </c:ser>
        <c:ser>
          <c:idx val="3"/>
          <c:order val="3"/>
          <c:tx>
            <c:v>Ансамбль</c:v>
          </c:tx>
          <c:spPr>
            <a:ln xmlns:a="http://schemas.openxmlformats.org/drawingml/2006/main" w="19050">
              <a:solidFill>
                <a:srgbClr val="21A038"/>
              </a:solidFill>
            </a:ln>
          </c:spPr>
          <c:marker>
            <c:symbol val="none"/>
          </c:marker>
          <c:cat>
            <c:numRef>
              <c:f>'Chart Data'!$G$2:$G$13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Data'!$H$2:$H$13</c:f>
              <c:numCache>
                <c:formatCode>0</c:formatCode>
                <c:ptCount val="12"/>
                <c:pt idx="0">
                  <c:v>31617.310012</c:v>
                </c:pt>
                <c:pt idx="1">
                  <c:v>27786.567644</c:v>
                </c:pt>
                <c:pt idx="2">
                  <c:v>30632.343611</c:v>
                </c:pt>
                <c:pt idx="3">
                  <c:v>30629.241814</c:v>
                </c:pt>
                <c:pt idx="4">
                  <c:v>32919.409352</c:v>
                </c:pt>
                <c:pt idx="5">
                  <c:v>32242.497609</c:v>
                </c:pt>
                <c:pt idx="6">
                  <c:v>33776.351725</c:v>
                </c:pt>
                <c:pt idx="7">
                  <c:v>33568.650185</c:v>
                </c:pt>
                <c:pt idx="8">
                  <c:v>32967.29904</c:v>
                </c:pt>
                <c:pt idx="9">
                  <c:v>33122.23311</c:v>
                </c:pt>
                <c:pt idx="10">
                  <c:v>33930.726944</c:v>
                </c:pt>
                <c:pt idx="11">
                  <c:v>37548.479138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egoe UI"/>
                  <a:ea typeface="Segoe UI"/>
                  <a:cs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egoe UI"/>
                    <a:ea typeface="Segoe UI"/>
                    <a:cs typeface="Segoe UI"/>
                  </a:rPr>
                  <a:t>Месяц 2024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egoe UI"/>
                  <a:ea typeface="Segoe UI"/>
                  <a:cs typeface="Segoe U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0E8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8E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E0E8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65716C"/>
              </a:solidFill>
              <a:latin typeface="Segoe UI"/>
              <a:ea typeface="Segoe UI"/>
              <a:cs typeface="Segoe U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Наблюдение</c:v>
          </c:tx>
          <c:spPr>
            <a:ln xmlns:a="http://schemas.openxmlformats.org/drawingml/2006/main" w="28575">
              <a:solidFill>
                <a:srgbClr val="20252F"/>
              </a:solidFill>
            </a:ln>
          </c:spPr>
          <c:marker>
            <c:symbol val="none"/>
          </c:marker>
          <c:cat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23233</c:v>
                </c:pt>
                <c:pt idx="1">
                  <c:v>28049</c:v>
                </c:pt>
                <c:pt idx="2">
                  <c:v>29982</c:v>
                </c:pt>
                <c:pt idx="3">
                  <c:v>30964</c:v>
                </c:pt>
                <c:pt idx="4">
                  <c:v>29452</c:v>
                </c:pt>
                <c:pt idx="5">
                  <c:v>32130</c:v>
                </c:pt>
                <c:pt idx="6">
                  <c:v>33246</c:v>
                </c:pt>
                <c:pt idx="7">
                  <c:v>30911</c:v>
                </c:pt>
                <c:pt idx="8">
                  <c:v>29679</c:v>
                </c:pt>
                <c:pt idx="9">
                  <c:v>28992</c:v>
                </c:pt>
                <c:pt idx="10">
                  <c:v>30527</c:v>
                </c:pt>
                <c:pt idx="11">
                  <c:v>41888</c:v>
                </c:pt>
              </c:numCache>
            </c:numRef>
          </c:val>
          <c:smooth val="0"/>
        </c:ser>
        <c:ser>
          <c:idx val="1"/>
          <c:order val="1"/>
          <c:tx>
            <c:v>Prophet</c:v>
          </c:tx>
          <c:spPr>
            <a:ln xmlns:a="http://schemas.openxmlformats.org/drawingml/2006/main" w="19050">
              <a:solidFill>
                <a:srgbClr val="537D84"/>
              </a:solidFill>
            </a:ln>
          </c:spPr>
          <c:marker>
            <c:symbol val="none"/>
          </c:marker>
          <c:cat>
            <c:numRef>
              <c:f>'Chart Data'!$C$2:$C$13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28553.895767</c:v>
                </c:pt>
                <c:pt idx="1">
                  <c:v>27175.196397</c:v>
                </c:pt>
                <c:pt idx="2">
                  <c:v>27506.918493</c:v>
                </c:pt>
                <c:pt idx="3">
                  <c:v>28284.009923</c:v>
                </c:pt>
                <c:pt idx="4">
                  <c:v>29132.185011</c:v>
                </c:pt>
                <c:pt idx="5">
                  <c:v>29442.132453</c:v>
                </c:pt>
                <c:pt idx="6">
                  <c:v>30304.172086</c:v>
                </c:pt>
                <c:pt idx="7">
                  <c:v>31208.259739</c:v>
                </c:pt>
                <c:pt idx="8">
                  <c:v>31479.594624</c:v>
                </c:pt>
                <c:pt idx="9">
                  <c:v>31483.65259</c:v>
                </c:pt>
                <c:pt idx="10">
                  <c:v>31321.363588</c:v>
                </c:pt>
                <c:pt idx="11">
                  <c:v>31475.963957</c:v>
                </c:pt>
              </c:numCache>
            </c:numRef>
          </c:val>
          <c:smooth val="0"/>
        </c:ser>
        <c:ser>
          <c:idx val="2"/>
          <c:order val="2"/>
          <c:tx>
            <c:v>Равная смесь</c:v>
          </c:tx>
          <c:spPr>
            <a:ln xmlns:a="http://schemas.openxmlformats.org/drawingml/2006/main" w="19050">
              <a:solidFill>
                <a:srgbClr val="AC972D"/>
              </a:solidFill>
            </a:ln>
          </c:spPr>
          <c:marker>
            <c:symbol val="none"/>
          </c:marker>
          <c:cat>
            <c:numRef>
              <c:f>'Chart Data'!$E$2:$E$13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Data'!$F$2:$F$13</c:f>
              <c:numCache>
                <c:formatCode>0</c:formatCode>
                <c:ptCount val="12"/>
                <c:pt idx="0">
                  <c:v>27995.434088</c:v>
                </c:pt>
                <c:pt idx="1">
                  <c:v>24695.840193</c:v>
                </c:pt>
                <c:pt idx="2">
                  <c:v>28424.933729</c:v>
                </c:pt>
                <c:pt idx="3">
                  <c:v>28603.495667</c:v>
                </c:pt>
                <c:pt idx="4">
                  <c:v>30748.049478</c:v>
                </c:pt>
                <c:pt idx="5">
                  <c:v>29617.401435</c:v>
                </c:pt>
                <c:pt idx="6">
                  <c:v>32175.68241</c:v>
                </c:pt>
                <c:pt idx="7">
                  <c:v>32847.831069</c:v>
                </c:pt>
                <c:pt idx="8">
                  <c:v>30499.580421</c:v>
                </c:pt>
                <c:pt idx="9">
                  <c:v>30481.105423</c:v>
                </c:pt>
                <c:pt idx="10">
                  <c:v>29856.051772</c:v>
                </c:pt>
                <c:pt idx="11">
                  <c:v>32369.72567</c:v>
                </c:pt>
              </c:numCache>
            </c:numRef>
          </c:val>
          <c:smooth val="0"/>
        </c:ser>
        <c:ser>
          <c:idx val="3"/>
          <c:order val="3"/>
          <c:tx>
            <c:v>Ансамбль</c:v>
          </c:tx>
          <c:spPr>
            <a:ln xmlns:a="http://schemas.openxmlformats.org/drawingml/2006/main" w="19050">
              <a:solidFill>
                <a:srgbClr val="21A038"/>
              </a:solidFill>
            </a:ln>
          </c:spPr>
          <c:marker>
            <c:symbol val="none"/>
          </c:marker>
          <c:cat>
            <c:numRef>
              <c:f>'Chart Data'!$G$2:$G$13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Data'!$H$2:$H$13</c:f>
              <c:numCache>
                <c:formatCode>0</c:formatCode>
                <c:ptCount val="12"/>
                <c:pt idx="0">
                  <c:v>27995.434088</c:v>
                </c:pt>
                <c:pt idx="1">
                  <c:v>23679.324183</c:v>
                </c:pt>
                <c:pt idx="2">
                  <c:v>28958.224437</c:v>
                </c:pt>
                <c:pt idx="3">
                  <c:v>27790.988026</c:v>
                </c:pt>
                <c:pt idx="4">
                  <c:v>30820.813972</c:v>
                </c:pt>
                <c:pt idx="5">
                  <c:v>29747.664944</c:v>
                </c:pt>
                <c:pt idx="6">
                  <c:v>32602.084712</c:v>
                </c:pt>
                <c:pt idx="7">
                  <c:v>32955.61914</c:v>
                </c:pt>
                <c:pt idx="8">
                  <c:v>30024.249719</c:v>
                </c:pt>
                <c:pt idx="9">
                  <c:v>30681.659982</c:v>
                </c:pt>
                <c:pt idx="10">
                  <c:v>29945.22247</c:v>
                </c:pt>
                <c:pt idx="11">
                  <c:v>33896.130021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egoe UI"/>
                  <a:ea typeface="Segoe UI"/>
                  <a:cs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egoe UI"/>
                    <a:ea typeface="Segoe UI"/>
                    <a:cs typeface="Segoe UI"/>
                  </a:rPr>
                  <a:t>Месяц 2024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egoe UI"/>
                  <a:ea typeface="Segoe UI"/>
                  <a:cs typeface="Segoe U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0E8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8E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E0E8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65716C"/>
              </a:solidFill>
              <a:latin typeface="Segoe UI"/>
              <a:ea typeface="Segoe UI"/>
              <a:cs typeface="Segoe U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2995A-6F84-41D9-9169-305DFAD3EE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de0f4d34c4ad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69EF1-7DCC-470E-A454-DF195336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609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СБЕРИНДЕКС 2026 / ПРОГНОЗИРОВАНИЕ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2C696-C3F0-4DC2-873E-9B56C6F8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647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510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510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Пульс</a:t>
            </a:r>
          </a:p>
          <a:p xmlns:a="http://schemas.openxmlformats.org/drawingml/2006/main">
            <a:pPr>
              <a:defRPr sz="510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510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муниципалитетов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235CA-3C29-435C-8D38-A47BB292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95725"/>
            <a:ext cx="5953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Общий календарь, адаптивный прогноз</a:t>
            </a:r>
          </a:p>
          <a:p xmlns:a="http://schemas.openxmlformats.org/drawingml/2006/main">
            <a:pPr>
              <a:defRPr sz="210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и проверка необычных отклонений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2181D-8689-452D-ADC1-C8E66ECE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5762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Артур Шафиев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F7804-6CB4-429A-A7BA-4BD93140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Ретроспективная проверка на известном 2024 году</a:t>
            </a:r>
          </a:p>
        </p:txBody>
      </p:sp>
    </p:spTree>
    <p:extLst>
      <p:ext uri="{BB962C8B-B14F-4D97-AF65-F5344CB8AC3E}">
        <p14:creationId xmlns:p14="http://schemas.microsoft.com/office/powerpoint/2010/main" val="8629852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1ED3CE-0D0F-4F0F-8D89-BD8261C4F6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7dff52f86495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E96C7-855C-48D7-8E18-FCEFC311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МЕТОД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26225-B814-46CF-BEC5-24771CB8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Как строится прогноз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891CF-8D9B-4D96-B445-53E811AC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06E52-5E3A-4C9E-ACC9-9B78C326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190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20082-4929-4707-83FA-CD5953C5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3190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Три исходных прогноза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C56E9-D479-458D-8A9A-65874F94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319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Последнее значение</a:t>
            </a:r>
          </a:p>
          <a:p xmlns:a="http://schemas.openxmlformats.org/drawingml/2006/main">
            <a:pPr>
              <a:defRPr sz="195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Prophet</a:t>
            </a:r>
          </a:p>
          <a:p xmlns:a="http://schemas.openxmlformats.org/drawingml/2006/main">
            <a:pPr>
              <a:defRPr sz="195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Общий календарь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7EA7C-5553-48EC-8B8F-87D7A84D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76450"/>
            <a:ext cx="3190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81B57-74CB-481C-BC11-9B86F1FC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52725"/>
            <a:ext cx="3190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Веса по прошлым ошибкам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98AC2-0D38-46C5-8546-49F76EA0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95675"/>
            <a:ext cx="319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Веса обновляются отдельно</a:t>
            </a:r>
          </a:p>
          <a:p xmlns:a="http://schemas.openxmlformats.org/drawingml/2006/main">
            <a:pPr>
              <a:defRPr sz="195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для каждого горизонта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B5F86-2850-47BE-BE64-D4F1DEB4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3190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9D895-52CB-4D0A-9F26-B8B999E1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52725"/>
            <a:ext cx="3190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Итоговый прогноз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A5EB5-1CF0-47EF-896F-45FEBAA4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95675"/>
            <a:ext cx="319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Неотрицательная</a:t>
            </a:r>
          </a:p>
          <a:p xmlns:a="http://schemas.openxmlformats.org/drawingml/2006/main">
            <a:pPr>
              <a:defRPr sz="195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смесь моделей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D60C3-C483-493B-B81C-F3A7F78D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86075"/>
            <a:ext cx="361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A03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48569-3433-4191-85E6-58405156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86075"/>
            <a:ext cx="361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A03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74535-7F88-4FBA-82D4-24CF87CE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Когда приходит новый месяц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402D1-4448-463C-A81F-11D5C5B5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Ошибка прогноза → Shewhart → проверка контекста по новостям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21C19E-73BD-43E8-BAF8-6750BA36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Для весов доступны только уже наблюдённые ошибки. Сигнал появляется после наблюдения; новости численно прогноз не меняют.</a:t>
            </a:r>
          </a:p>
        </p:txBody>
      </p:sp>
    </p:spTree>
    <p:extLst>
      <p:ext uri="{BB962C8B-B14F-4D97-AF65-F5344CB8AC3E}">
        <p14:creationId xmlns:p14="http://schemas.microsoft.com/office/powerpoint/2010/main" val="3645151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D97E5-4E9D-4561-B9AD-F3CEF03966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b2a5cac8b4d1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BAA8A-2B09-4E4B-B185-4AEB1E18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ДАННЫЕ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1E0A4-1438-4E9B-8F09-245A0BE0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На каких данных проверяли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21AAD-B9BA-4AE8-A369-8D715739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3AB2A-6A79-4AAD-9F71-B973B189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28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875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4875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2 190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949D5-5BB5-448A-9FD2-15AB1BED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муниципалитетов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06F65-B71A-4EB6-9803-A3D3D6C5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28800"/>
            <a:ext cx="328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875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4875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50542-BEF6-4C9B-8041-20D828D9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38425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месяца на ряд, максимум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ABD74-F593-4428-A3EB-09FDC44F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28800"/>
            <a:ext cx="328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875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4875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C641E-91DD-41C2-B44F-16C7A68E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38425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категорий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6E336-5B45-4168-BDC5-9CA0A36C8FDC}"/>
              </a:ext>
            </a:extLst>
          </p:cNvPr>
          <p:cNvGraphicFramePr/>
          <p:nvPr/>
        </p:nvGraphicFramePr>
        <p:xfrm>
          <a:off xmlns:a="http://schemas.openxmlformats.org/drawingml/2006/main" x="609600" y="3390900"/>
          <a:ext xmlns:a="http://schemas.openxmlformats.org/drawingml/2006/main" cx="10972800" cy="2028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62750"/>
                <a:gridCol w="2000250"/>
                <a:gridCol w="2209800"/>
              </a:tblGrid>
              <a:tr h="50720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Роль</a:t>
                      </a:r>
                    </a:p>
                  </a:txBody>
                  <a:tcPr marL="91440" marR="91440" marT="45720" marB="45720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Назначено МО</a:t>
                      </a:r>
                    </a:p>
                  </a:txBody>
                  <a:tcPr marL="91440" marR="91440" marT="45720" marB="45720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Доступно</a:t>
                      </a:r>
                    </a:p>
                  </a:txBody>
                  <a:tcPr marL="91440" marR="91440" marT="45720" marB="45720">
                    <a:solidFill>
                      <a:srgbClr val="EEF7EF"/>
                    </a:solidFill>
                  </a:tcPr>
                </a:tc>
              </a:tr>
              <a:tr h="5072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Календарь по данным 2023 года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1 179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1 179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72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Обучение весов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128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126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72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Оценка прогноза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128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125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1CA40-9386-478E-BB10-C32B13AB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303 126 строк. Группы не пересекаются; 125 МО в оценке - объединение горизонтов.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864055-65BB-4B25-AF36-063D0B9B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2024 год уже изучался при выборе подхода. Интервалы условны на этих данных; пространственная зависимость не учтена.</a:t>
            </a:r>
          </a:p>
        </p:txBody>
      </p:sp>
    </p:spTree>
    <p:extLst>
      <p:ext uri="{BB962C8B-B14F-4D97-AF65-F5344CB8AC3E}">
        <p14:creationId xmlns:p14="http://schemas.microsoft.com/office/powerpoint/2010/main" val="17158969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2B310-79B8-407B-BB06-A8BBFC978C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6871d6efc45e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F8074-AAC8-49A2-BE58-101BEECB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ОСНОВНОЙ РЕЗУЛЬТАТ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BE59F-4408-41E5-8F2C-63093C6E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В июле-декабре ошибка ниже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F1639-8C02-43E2-9348-1BC3AFE5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7E090-3CDF-4B77-9936-BFD75450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7052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5325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5325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5325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−11.12%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45120-75F5-42A1-A7A5-A7B1D7D8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к нашему Prophet</a:t>
            </a:r>
          </a:p>
          <a:p xmlns:a="http://schemas.openxmlformats.org/drawingml/2006/main">
            <a:pPr>
              <a:defRPr sz="210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с годовой сезонностью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3E794-384A-4830-812D-9294EF05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3400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525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3525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573.346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73CE7-FF70-4875-9FB0-C704AAB8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средняя MAE ансамбля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3E910370-F381-43DF-A06E-42112D497B09}"/>
              </a:ext>
            </a:extLst>
          </p:cNvPr>
          <p:cNvGraphicFramePr/>
          <p:nvPr/>
        </p:nvGraphicFramePr>
        <p:xfrm>
          <a:off xmlns:a="http://schemas.openxmlformats.org/drawingml/2006/main" x="4333875" y="1943100"/>
          <a:ext xmlns:a="http://schemas.openxmlformats.org/drawingml/2006/main" cx="7200900" cy="3648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b0ada1c76c4301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6C115-1DF7-4F5B-B4EF-704E0E93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К Prophet без сезонности: −19.94%. По нормированной MAE выигрыш к годовому Prophet не подтверждён. MAE в единицах value; настройка жюри неизвестна.</a:t>
            </a:r>
          </a:p>
        </p:txBody>
      </p:sp>
    </p:spTree>
    <p:extLst>
      <p:ext uri="{BB962C8B-B14F-4D97-AF65-F5344CB8AC3E}">
        <p14:creationId xmlns:p14="http://schemas.microsoft.com/office/powerpoint/2010/main" val="53129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F7209-BF8C-4E74-A5DD-CEDBD94A8B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b514c1172499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FCE0E-E226-4665-AC70-EB18FE98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ИЮЛЬ-ДЕКАБРЬ 2024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142BF-17A5-4828-87CB-0A6F2786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На три месяца ансамбль уступает смеси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45EB8-8942-4D64-A13B-D2A1D8F9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C8BB9-CE86-44B1-A615-8A937A35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000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633.232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3D7AB-91CB-46F3-9F48-77BC4E6C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ансамбль, 3 месяца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BBC54-8296-429F-9640-B3AE8AF4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790700"/>
            <a:ext cx="4762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200" b="1">
                <a:solidFill>
                  <a:srgbClr val="AC972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AC972D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AC972D"/>
                </a:solidFill>
                <a:latin typeface="Segoe UI"/>
                <a:ea typeface="Segoe UI"/>
                <a:cs typeface="Segoe UI"/>
              </a:rPr>
              <a:t>617.284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72FAD-F162-45B1-B357-4DA506BD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003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равная смесь, 3 месяца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A82E8-3910-4543-B501-F70929A1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Январь-июнь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4A072-CCE9-42B0-A2F1-93B869C0C59F}"/>
              </a:ext>
            </a:extLst>
          </p:cNvPr>
          <p:cNvGraphicFramePr/>
          <p:nvPr/>
        </p:nvGraphicFramePr>
        <p:xfrm>
          <a:off xmlns:a="http://schemas.openxmlformats.org/drawingml/2006/main" x="609600" y="3819525"/>
          <a:ext xmlns:a="http://schemas.openxmlformats.org/drawingml/2006/main" cx="5238750" cy="1847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1247775"/>
                <a:gridCol w="1371600"/>
              </a:tblGrid>
              <a:tr h="4619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Метод</a:t>
                      </a:r>
                    </a:p>
                  </a:txBody>
                  <a:tcPr marL="91440" marR="91440" marT="45720" marB="45720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3 мес.</a:t>
                      </a:r>
                    </a:p>
                  </a:txBody>
                  <a:tcPr marL="91440" marR="91440" marT="45720" marB="45720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Среднее</a:t>
                      </a:r>
                    </a:p>
                  </a:txBody>
                  <a:tcPr marL="91440" marR="91440" marT="45720" marB="45720">
                    <a:solidFill>
                      <a:srgbClr val="EEF7E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Ансамбль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669.241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604.668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Равная смесь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672.763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596.874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Prophet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487.157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613.069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9FE81-84C9-4A74-B011-7E64711E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337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Весь 2024 год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D5DCC-7E99-4CC3-BE64-84A8BF029603}"/>
              </a:ext>
            </a:extLst>
          </p:cNvPr>
          <p:cNvGraphicFramePr/>
          <p:nvPr/>
        </p:nvGraphicFramePr>
        <p:xfrm>
          <a:off xmlns:a="http://schemas.openxmlformats.org/drawingml/2006/main" x="6296025" y="3819525"/>
          <a:ext xmlns:a="http://schemas.openxmlformats.org/drawingml/2006/main" cx="5238750" cy="1847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1247775"/>
                <a:gridCol w="1371600"/>
              </a:tblGrid>
              <a:tr h="4619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Метод</a:t>
                      </a:r>
                    </a:p>
                  </a:txBody>
                  <a:tcPr marL="91440" marR="91440" marT="45720" marB="45720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3 мес.</a:t>
                      </a:r>
                    </a:p>
                  </a:txBody>
                  <a:tcPr marL="91440" marR="91440" marT="45720" marB="45720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Среднее</a:t>
                      </a:r>
                    </a:p>
                  </a:txBody>
                  <a:tcPr marL="91440" marR="91440" marT="45720" marB="45720">
                    <a:solidFill>
                      <a:srgbClr val="EEF7E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Ансамбль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651.055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605.399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Равная смесь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642.972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622.267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Prophet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639.950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671.392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3FDA8-5EF5-4667-BCC1-6B2A9452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На 6 месяцев пять из шести прогнозов совпадают со стартовой смесью; улучшение даёт декабрь. В январе-июне ансамбль уступает смеси в среднем.</a:t>
            </a:r>
          </a:p>
        </p:txBody>
      </p:sp>
    </p:spTree>
    <p:extLst>
      <p:ext uri="{BB962C8B-B14F-4D97-AF65-F5344CB8AC3E}">
        <p14:creationId xmlns:p14="http://schemas.microsoft.com/office/powerpoint/2010/main" val="13461172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F1586-220F-4C0B-92A3-7FC67C3FC3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d02ba35ef436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253F9-725D-44EC-B679-522D1610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ГОРИЗОНТ 12 МЕСЯЦЕВ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61A72-8417-4375-88F7-4837CA70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Отдельная проверка на год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ECA1D-E563-4A2F-8115-E72D91ED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AFE7A-96E1-43B2-B9C4-CD5EE827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04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7425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7425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7425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C0CE9-DBB0-4DF4-BB08-5D6F7DA0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67075"/>
            <a:ext cx="304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месяцев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200EC-85C5-4341-A9DA-94DDC922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31432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Основной ансамбль</a:t>
            </a:r>
          </a:p>
          <a:p xmlns:a="http://schemas.openxmlformats.org/drawingml/2006/main">
            <a:pPr>
              <a:defRPr sz="210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на год не запускался.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87540-53FD-4F0E-ADB3-C0C6E10A5784}"/>
              </a:ext>
            </a:extLst>
          </p:cNvPr>
          <p:cNvGraphicFramePr/>
          <p:nvPr/>
        </p:nvGraphicFramePr>
        <p:xfrm>
          <a:off xmlns:a="http://schemas.openxmlformats.org/drawingml/2006/main" x="4333875" y="1971675"/>
          <a:ext xmlns:a="http://schemas.openxmlformats.org/drawingml/2006/main" cx="7191375" cy="2752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38575"/>
                <a:gridCol w="1495425"/>
                <a:gridCol w="1857375"/>
              </a:tblGrid>
              <a:tr h="55054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Другая панель</a:t>
                      </a:r>
                    </a:p>
                  </a:txBody>
                  <a:tcPr marL="91440" marR="91440" marT="45720" marB="45720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MAE</a:t>
                      </a:r>
                    </a:p>
                  </a:txBody>
                  <a:tcPr marL="91440" marR="91440" marT="45720" marB="45720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Нормир. MAE</a:t>
                      </a:r>
                    </a:p>
                  </a:txBody>
                  <a:tcPr marL="91440" marR="91440" marT="45720" marB="45720">
                    <a:solidFill>
                      <a:srgbClr val="EEF7EF"/>
                    </a:solidFill>
                  </a:tcPr>
                </a:tc>
              </a:tr>
              <a:tr h="55054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Равная смесь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976.272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0.221059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054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Prophet без сезонности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934.814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0.245983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054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Общий календарь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916.682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0.232564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054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Календарь: ½ поправки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835.372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0.231085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561BD-7FE8-4B33-9930-31A19CB7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57775"/>
            <a:ext cx="7219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1 494 ряда, одна дата выпуска в конце 2023 года.</a:t>
            </a:r>
          </a:p>
          <a:p xmlns:a="http://schemas.openxmlformats.org/drawingml/2006/main">
            <a:pPr>
              <a:defRPr sz="187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Целевой месяц - декабрь 2024.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FCB88-2658-47A5-8695-EC50866A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Одна дата выпуска не даёт устойчивой оценки годового прогноза. Эти ошибки не были доступны для обучения весов до наблюдения декабря.</a:t>
            </a:r>
          </a:p>
        </p:txBody>
      </p:sp>
    </p:spTree>
    <p:extLst>
      <p:ext uri="{BB962C8B-B14F-4D97-AF65-F5344CB8AC3E}">
        <p14:creationId xmlns:p14="http://schemas.microsoft.com/office/powerpoint/2010/main" val="9236290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6077D-6381-4396-A847-528768AB03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a8da739fa44c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AEF94-9CCD-47B1-B16C-CC8DE787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СТРУКТУРНЫЕ ИЗМЕНЕНИЯ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08D6A-136D-4E3E-8A88-A99C0C66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Сравнили пять детекторов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CCC51-D157-45DC-95B9-8E6CAEA2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13620-4F24-47C7-B21D-69EBC0A0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Отдельная панель. Отклик на синтетические изменения и частота сигналов.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31A42-1BE2-4517-8C11-89503C778767}"/>
              </a:ext>
            </a:extLst>
          </p:cNvPr>
          <p:cNvGraphicFramePr/>
          <p:nvPr/>
        </p:nvGraphicFramePr>
        <p:xfrm>
          <a:off xmlns:a="http://schemas.openxmlformats.org/drawingml/2006/main" x="609600" y="2505075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057400"/>
                <a:gridCol w="2057400"/>
                <a:gridCol w="2057400"/>
                <a:gridCol w="2057400"/>
              </a:tblGrid>
              <a:tr h="438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Детектор</a:t>
                      </a:r>
                    </a:p>
                  </a:txBody>
                  <a:tcPr marL="91440" marR="91440" marT="45720" marB="45720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Отклик:</a:t>
                      </a:r>
                    </a:p>
                    <a:p>
                      <a:r>
                        <a:rPr sz="1725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калибровка</a:t>
                      </a:r>
                    </a:p>
                  </a:txBody>
                  <a:tcPr marL="91440" marR="91440" marT="45720" marB="45720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Отклик:</a:t>
                      </a:r>
                    </a:p>
                    <a:p>
                      <a:r>
                        <a:rPr sz="1725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проверка</a:t>
                      </a:r>
                    </a:p>
                  </a:txBody>
                  <a:tcPr marL="91440" marR="91440" marT="45720" marB="45720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Сигналы:</a:t>
                      </a:r>
                    </a:p>
                    <a:p>
                      <a:r>
                        <a:rPr sz="1725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калибровка</a:t>
                      </a:r>
                    </a:p>
                  </a:txBody>
                  <a:tcPr marL="91440" marR="91440" marT="45720" marB="45720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Сигналы:</a:t>
                      </a:r>
                    </a:p>
                    <a:p>
                      <a:r>
                        <a:rPr sz="1725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проверка</a:t>
                      </a:r>
                    </a:p>
                  </a:txBody>
                  <a:tcPr marL="91440" marR="91440" marT="45720" marB="45720">
                    <a:solidFill>
                      <a:srgbClr val="EEF7E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Shewhart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0.369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0.166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6.20%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EWMA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0.337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0.182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9.67%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31.66%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ResetCUSUM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0.287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0.213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8.24%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20.86%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BOCPD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0.089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0.093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9.96%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1.95%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PrefixPELT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0.232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0.114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8.80%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18.68%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59AA3-31B2-4169-994E-0ACDF6A3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Shewhart выбран по калибровке. На проверке отклик выше у ResetCUSUM и EWMA.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70FA5-6AA2-4E43-8154-C3601E4C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В основной проверке Shewhart: 8.53% сигналов при калибровке, 3.38% при проверке. Истинных меток шоков нет; доля ложных тревог неизвестна.</a:t>
            </a:r>
          </a:p>
        </p:txBody>
      </p:sp>
    </p:spTree>
    <p:extLst>
      <p:ext uri="{BB962C8B-B14F-4D97-AF65-F5344CB8AC3E}">
        <p14:creationId xmlns:p14="http://schemas.microsoft.com/office/powerpoint/2010/main" val="18194327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301DF-C67E-4507-B079-9E6C7C91A0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b1ec6e0b8485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F3F6A-4C01-463D-8F60-F0A3A627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ФУНДАМЕНТАЛЬНАЯ МОДЕЛЬ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D2424-030A-43EB-8EA8-7C319035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Chronos-2 не улучшил среднюю ошибку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91FE0-9E80-4B22-BA04-DC1895EA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8B1F4AB-434B-4B57-8191-8F152FDDECA6}"/>
              </a:ext>
            </a:extLst>
          </p:cNvPr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7334250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87342c310f406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B0707-2764-4657-94FD-59EBAA20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30194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125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4125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~120M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F48AA-051A-4F78-84C7-75AC124C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62275"/>
            <a:ext cx="2990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параметров</a:t>
            </a:r>
          </a:p>
          <a:p xmlns:a="http://schemas.openxmlformats.org/drawingml/2006/main">
            <a:pPr>
              <a:defRPr sz="202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CPU float32</a:t>
            </a:r>
          </a:p>
          <a:p xmlns:a="http://schemas.openxmlformats.org/drawingml/2006/main">
            <a:pPr>
              <a:defRPr sz="202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Без дообучения</a:t>
            </a:r>
          </a:p>
          <a:p xmlns:a="http://schemas.openxmlformats.org/drawingml/2006/main">
            <a:pPr>
              <a:defRPr sz="202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Apache-2.0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E1F55-5824-4195-92E3-AB52D372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48225"/>
            <a:ext cx="29908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На 1 месяц ошибка ниже</a:t>
            </a:r>
          </a:p>
          <a:p xmlns:a="http://schemas.openxmlformats.org/drawingml/2006/main">
            <a:pPr>
              <a:defRPr sz="195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Prophet, на 6 месяцев выше.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1CEE7-5629-4F5A-92CB-23D943EE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Другая панель данных. Эффекты календаря и совместных групп не разделены. Chronos-2 в основной ансамбль не включён.</a:t>
            </a:r>
          </a:p>
        </p:txBody>
      </p:sp>
    </p:spTree>
    <p:extLst>
      <p:ext uri="{BB962C8B-B14F-4D97-AF65-F5344CB8AC3E}">
        <p14:creationId xmlns:p14="http://schemas.microsoft.com/office/powerpoint/2010/main" val="75267479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271B8-57FD-4917-9951-6A5999BCA0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5de6528b3427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5BAA4-A66D-457A-8753-990B19B3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ВНЕШНИЕ СОБЫТИЯ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BCA62-4FD2-4176-8793-1E3BBE4E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Новости дают контекст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014C4-01AC-4916-888A-369DFC83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4A5BD-0471-4D48-B44D-C46C493F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8293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Добавление решений ЦБ</a:t>
            </a:r>
          </a:p>
          <a:p xmlns:a="http://schemas.openxmlformats.org/drawingml/2006/main">
            <a:pPr>
              <a:defRPr sz="2325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увеличило ошибку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14568D7-FB7E-41CA-B694-8B392BF43871}"/>
              </a:ext>
            </a:extLst>
          </p:cNvPr>
          <p:cNvGraphicFramePr/>
          <p:nvPr/>
        </p:nvGraphicFramePr>
        <p:xfrm>
          <a:off xmlns:a="http://schemas.openxmlformats.org/drawingml/2006/main" x="457200" y="2971800"/>
          <a:ext xmlns:a="http://schemas.openxmlformats.org/drawingml/2006/main" cx="6191250" cy="2352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e67b38f0be4e3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ABEB3-EBA8-4BCB-A2E0-EF9789A2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71675"/>
            <a:ext cx="4229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Региональный контекст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51B95-1323-4EFF-918C-8C8C1052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42291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Паводок в Орске</a:t>
            </a:r>
          </a:p>
          <a:p xmlns:a="http://schemas.openxmlformats.org/drawingml/2006/main">
            <a:pPr>
              <a:defRPr sz="210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События в Курской области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A88D2-5577-42CF-A99B-0AF87994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86225"/>
            <a:ext cx="42291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Сообщения МЧС помогают</a:t>
            </a:r>
          </a:p>
          <a:p xmlns:a="http://schemas.openxmlformats.org/drawingml/2006/main">
            <a:pPr>
              <a:defRPr sz="187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сопоставить сигнал с событием.</a:t>
            </a:r>
          </a:p>
          <a:p xmlns:a="http://schemas.openxmlformats.org/drawingml/2006/main">
            <a:pPr>
              <a:defRPr sz="187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Для Курской области пригодных</a:t>
            </a:r>
          </a:p>
          <a:p xmlns:a="http://schemas.openxmlformats.org/drawingml/2006/main">
            <a:pPr>
              <a:defRPr sz="187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рядов в наборе нет.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E6391-ED51-4FB8-9663-D02E8ED1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Нормированная MAE в исходной абляции. Новости не доказывают изменение расходов и не меняют текущий прогноз. Связи МО и доступность рынка не использованы.</a:t>
            </a:r>
          </a:p>
        </p:txBody>
      </p:sp>
    </p:spTree>
    <p:extLst>
      <p:ext uri="{BB962C8B-B14F-4D97-AF65-F5344CB8AC3E}">
        <p14:creationId xmlns:p14="http://schemas.microsoft.com/office/powerpoint/2010/main" val="358652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0D86F-A84B-40DC-85EE-EB76E5F53F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ea7471a13424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5C91D-DE4A-4DF0-A6D7-729B95F9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ПРИМЕРЫ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8B1BF-057F-4A0C-B3A8-CF9C6F21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Абанский район и Отрадный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41E44-7A69-4723-B9B8-BDFEDC9F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C52D1-354A-4940-BFEC-9627796C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Абанский район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D127D-E7D1-49DC-A242-6B1E98CE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23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Красноярский край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A0561-720B-4C64-8AD4-7D3AE0CE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95475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Отрадный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CC9D3-177A-4191-BC0C-C08C2D67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43150"/>
            <a:ext cx="523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Самарская область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BD62BA08-F53B-47D4-B470-0FE3C9C6B33A}"/>
              </a:ext>
            </a:extLst>
          </p:cNvPr>
          <p:cNvGraphicFramePr/>
          <p:nvPr/>
        </p:nvGraphicFramePr>
        <p:xfrm>
          <a:off xmlns:a="http://schemas.openxmlformats.org/drawingml/2006/main" x="409575" y="2876550"/>
          <a:ext xmlns:a="http://schemas.openxmlformats.org/drawingml/2006/main" cx="5438775" cy="2809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1710df2f014e47"/>
          </a:graphicData>
        </a:graphic>
      </p:graphicFrame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ECBE7C99-D785-43FB-A880-88142E986A07}"/>
              </a:ext>
            </a:extLst>
          </p:cNvPr>
          <p:cNvGraphicFramePr/>
          <p:nvPr/>
        </p:nvGraphicFramePr>
        <p:xfrm>
          <a:off xmlns:a="http://schemas.openxmlformats.org/drawingml/2006/main" x="6134100" y="2876550"/>
          <a:ext xmlns:a="http://schemas.openxmlformats.org/drawingml/2006/main" cx="5457825" cy="2809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bcd9aeac0548c9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9ECEA-8C80-475A-B975-852C9BA9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В обоих примерах виден декабрьский рост. Примеры выбраны заранее, без отбора по ошибке или сигналу. Все категории, 1 месяц, value. СберИндекс, CC BY-SA 4.0.</a:t>
            </a:r>
          </a:p>
        </p:txBody>
      </p:sp>
    </p:spTree>
    <p:extLst>
      <p:ext uri="{BB962C8B-B14F-4D97-AF65-F5344CB8AC3E}">
        <p14:creationId xmlns:p14="http://schemas.microsoft.com/office/powerpoint/2010/main" val="194632235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7257A-EE19-4A9F-835A-09B6D7817E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04c794dcd46c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D2DE1-1557-45A9-88C2-8E2E0DF4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ПРИМЕР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6C12C-BBAB-4F1F-9F8E-6D61E76B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Кедровый: декабрьское отклонение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08148-3D9C-4680-BD08-635C4DC7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3ECE1-0AE1-4BB2-9290-36CA5F2F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752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Томская область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28B85B82-1FFF-404A-BC5A-54694CC9F45F}"/>
              </a:ext>
            </a:extLst>
          </p:cNvPr>
          <p:cNvGraphicFramePr/>
          <p:nvPr/>
        </p:nvGraphicFramePr>
        <p:xfrm>
          <a:off xmlns:a="http://schemas.openxmlformats.org/drawingml/2006/main" x="409575" y="2505075"/>
          <a:ext xmlns:a="http://schemas.openxmlformats.org/drawingml/2006/main" cx="7591425" cy="3200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ebbeeb3a6e454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0BBE3-DB6E-4441-9BF3-969AA7F6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300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575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4575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4575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41 888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1EC0E-5FB2-4B47-8298-65ED0A70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9813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наблюдение за декабрь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4655C-6D97-498F-AF5C-1791B9CD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10075"/>
            <a:ext cx="2971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Сигнал после</a:t>
            </a:r>
          </a:p>
          <a:p xmlns:a="http://schemas.openxmlformats.org/drawingml/2006/main">
            <a:pPr>
              <a:defRPr sz="22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наблюдения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228A9-10C8-40DC-851B-B1788B47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Причина отклонения и связь с экономическим шоком не установлены. Нужна проверка аналитиком. Все категории, 1 месяц, value. СберИндекс, CC BY-SA 4.0.</a:t>
            </a:r>
          </a:p>
        </p:txBody>
      </p:sp>
    </p:spTree>
    <p:extLst>
      <p:ext uri="{BB962C8B-B14F-4D97-AF65-F5344CB8AC3E}">
        <p14:creationId xmlns:p14="http://schemas.microsoft.com/office/powerpoint/2010/main" val="134571783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02A0E-DDE0-4EF6-911F-2F990ED7AF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087341a5a4ac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6F811-D931-4F44-BAB3-C66DD1AA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1A03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1A038"/>
                </a:solidFill>
                <a:latin typeface="Segoe UI"/>
                <a:ea typeface="Segoe UI"/>
                <a:cs typeface="Segoe UI"/>
              </a:rPr>
              <a:t>ОТБОР И ВОСПРОИЗВОДИМОСТЬ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031C4-0CE3-439A-BC81-B7DE2754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Почему сохранили основной ансамбль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995E0-52DF-4AB7-B25E-E562D923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D96A6-9532-493B-AEEA-DE5761F60EE0}"/>
              </a:ext>
            </a:extLst>
          </p:cNvPr>
          <p:cNvGraphicFramePr/>
          <p:nvPr/>
        </p:nvGraphicFramePr>
        <p:xfrm>
          <a:off xmlns:a="http://schemas.openxmlformats.org/drawingml/2006/main" x="609600" y="1914525"/>
          <a:ext xmlns:a="http://schemas.openxmlformats.org/drawingml/2006/main" cx="109728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343650"/>
                <a:gridCol w="2343150"/>
                <a:gridCol w="2286000"/>
              </a:tblGrid>
              <a:tr h="47244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Вариант</a:t>
                      </a:r>
                    </a:p>
                  </a:txBody>
                  <a:tcPr marL="91440" marR="91440" marT="45720" marB="45720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Средняя MAE</a:t>
                      </a:r>
                    </a:p>
                  </a:txBody>
                  <a:tcPr marL="91440" marR="91440" marT="45720" marB="45720">
                    <a:solidFill>
                      <a:srgbClr val="EE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3 месяца</a:t>
                      </a:r>
                    </a:p>
                  </a:txBody>
                  <a:tcPr marL="91440" marR="91440" marT="45720" marB="45720">
                    <a:solidFill>
                      <a:srgbClr val="EEF7E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Адаптивный ансамбль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573.346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633.232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Веса по категориям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586.768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673.497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Акцент на недавние ошибки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572.226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629.872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Равная смесь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610.070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52F"/>
                          </a:solidFill>
                          <a:latin typeface="Segoe UI"/>
                          <a:ea typeface="Segoe UI"/>
                          <a:cs typeface="Segoe UI"/>
                        </a:rPr>
                        <a:t>617.284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ADAF4-5913-4C90-AF71-59623061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Акцент на недавние ошибки численно лучше основного ансамбля.</a:t>
            </a:r>
          </a:p>
          <a:p xmlns:a="http://schemas.openxmlformats.org/drawingml/2006/main">
            <a:pPr>
              <a:defRPr sz="2025" b="0">
                <a:solidFill>
                  <a:srgbClr val="20252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0252F"/>
                </a:solidFill>
                <a:latin typeface="Segoe UI"/>
                <a:ea typeface="Segoe UI"/>
                <a:cs typeface="Segoe UI"/>
              </a:rPr>
              <a:t>Но на 3 месяца он уступил равной смеси и не прошёл правило замены.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9639B-A2DF-4B0B-A9A6-34644107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16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5716C"/>
                </a:solidFill>
                <a:latin typeface="Segoe UI"/>
                <a:ea typeface="Segoe UI"/>
                <a:cs typeface="Segoe UI"/>
              </a:rPr>
              <a:t>Код, метрики и графики входят в комплект. Полный повтор из сырья, Linux и независимая проверка в Cloud не выполнены. Предупреждение до события не подтверждено.</a:t>
            </a:r>
          </a:p>
        </p:txBody>
      </p:sp>
    </p:spTree>
    <p:extLst>
      <p:ext uri="{BB962C8B-B14F-4D97-AF65-F5344CB8AC3E}">
        <p14:creationId xmlns:p14="http://schemas.microsoft.com/office/powerpoint/2010/main" val="5663296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2026-10-05T16:47:53.5440000Z</dcterms:created>
  <dcterms:modified xsi:type="dcterms:W3CDTF">2026-10-05T16:47:53.5440000Z</dcterms:modified>
</coreProperties>
</file>